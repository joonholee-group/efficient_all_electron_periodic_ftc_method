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9" r:id="rId3"/>
    <p:sldId id="262" r:id="rId4"/>
    <p:sldId id="283" r:id="rId5"/>
    <p:sldId id="277" r:id="rId6"/>
    <p:sldId id="265" r:id="rId7"/>
    <p:sldId id="282" r:id="rId8"/>
    <p:sldId id="281" r:id="rId9"/>
    <p:sldId id="280" r:id="rId10"/>
    <p:sldId id="27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D00"/>
    <a:srgbClr val="008001"/>
    <a:srgbClr val="2301FF"/>
    <a:srgbClr val="086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770"/>
  </p:normalViewPr>
  <p:slideViewPr>
    <p:cSldViewPr snapToGrid="0" showGuides="1">
      <p:cViewPr varScale="1">
        <p:scale>
          <a:sx n="129" d="100"/>
          <a:sy n="129" d="100"/>
        </p:scale>
        <p:origin x="1216" y="320"/>
      </p:cViewPr>
      <p:guideLst>
        <p:guide orient="horz" pos="20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6071D-6A85-374C-9F43-B4FBD42146D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E256C-A4F9-364A-B7D5-404D59D2F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1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E256C-A4F9-364A-B7D5-404D59D2F2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9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E256C-A4F9-364A-B7D5-404D59D2F2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2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02FF-D465-5C7C-EAA9-455A4E6BE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E8D6C-E56C-0C51-467D-54A759ED5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9F88-9497-96D0-829B-3A76D27E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EC8DD-DC44-D181-9B52-9C950153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54C9-8D08-358A-14DA-D41EB043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3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DD14-A0E0-F7F4-9CEF-607965BF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ECB1-A02B-FF84-C378-5BE2F8EA2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46E4E-6B58-EFC8-25B0-6F9D5E54D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8F071-A726-BBB5-6637-72306D81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181B-080B-FD63-0446-EAE9A5C7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7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E1E3-86A8-E8FD-6BF1-974CF273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7F22D-AE57-013F-A1D5-98ACBA08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D49E-5695-C22A-27CA-8710FCB8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56B71-92BC-62FF-061D-86849F6C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79583-D565-19AC-0512-838C6741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2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75FF-B44E-C34E-11F0-5E00BC2D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56804-707F-B4CD-1518-82705E519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E7850-6690-304D-89B8-6841123D8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0F8E8-960C-257B-B998-55FCC9D3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B1551-BE18-6BD7-FD90-09901E56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7D831-AFA0-88C1-C986-311C4257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5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B15F-3B8B-195C-B8CE-9EA7D839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69638-63D1-FA02-3133-E1FA432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A0907-FC4F-BD2C-C9F6-A4570A2C1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896F1-7C09-EFF5-4995-033030EC2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60D3F-E62C-1EFF-95BE-FBFA35597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CEFCF-D9B3-F490-FEED-0394B23C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634A9-D13C-1C26-D971-B32D64E4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0D7605-8969-EE28-6C27-E9FC6E0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4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F275-4390-2F49-6ECB-B44F4387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0CA97-40DA-E154-C426-1ABC68EE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428B0-156B-258E-D8E6-913AE3DD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17457-5FBD-429B-24EE-606DB3FC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7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86C00-3BA4-9740-12E3-14BCAEF5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11E2C-DEA2-4265-B132-3254A8FD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5D2B1-405B-7941-60EA-3763B569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2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43CF-5182-3D09-88AC-3B899099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56FD-BFF2-230F-B2E6-DFF63518B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2466B-90F2-2020-F47A-5CFC10F46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88D36-7325-C51F-0829-0860FF85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B00A0-1728-831B-F8B6-C9261BCD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A244B-375F-EDB9-F170-20C7BF1E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8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3A6E-1844-F9B7-BF83-6439F6DC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DAEB8-489A-ACBF-378C-49A715EC2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46779-7123-87F5-23CC-FD142DDEF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3DFC0-DB3F-CB29-AC9C-4A8511BE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37278-7009-C29C-7287-7E5792B1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180C7-6BFA-4860-F718-E0F1A97D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8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835C-BB17-5ECC-2FCB-9722DF93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D4E95-DB9C-FA21-82DE-DAA5E8DCC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668A3-65A0-98C3-034A-81185168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88E64-261E-A723-B3AB-FD06388A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FC9A4-906D-01F4-A24E-03F59936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6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BE10E-B0AD-ABAF-2ED2-C80D31721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05F3B-BB7C-77A3-E653-99A82251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EF094-BC7C-DDDC-EB2A-5E359448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338C-7C02-E366-28E8-A3E3B9CF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25D69-1419-A452-5BFB-D1E17DB9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03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7CF65-C5A3-EB87-9CC3-6D70610E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5F329-7FC3-B528-D1A5-883C4AFAE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51BB-8F95-873F-9849-A3CB7307A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A6E39-38D7-6542-B396-4AF66DB8CF8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A636-0C78-F0CE-439F-AE773FE90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A30C6-33CA-767C-0F39-2D9D59C2C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EB3FA-FFA7-0F4B-9406-2B68B38E2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2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28.png"/><Relationship Id="rId3" Type="http://schemas.openxmlformats.org/officeDocument/2006/relationships/image" Target="../media/image2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0.png"/><Relationship Id="rId10" Type="http://schemas.openxmlformats.org/officeDocument/2006/relationships/image" Target="../media/image43.png"/><Relationship Id="rId4" Type="http://schemas.openxmlformats.org/officeDocument/2006/relationships/image" Target="../media/image370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0.png"/><Relationship Id="rId7" Type="http://schemas.openxmlformats.org/officeDocument/2006/relationships/image" Target="../media/image5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31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66E5-AA5D-5395-9EB2-4966DCD59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Efficient All-Electron Periodic Fourier-Transformed Coulomb Method</a:t>
            </a:r>
          </a:p>
        </p:txBody>
      </p:sp>
    </p:spTree>
    <p:extLst>
      <p:ext uri="{BB962C8B-B14F-4D97-AF65-F5344CB8AC3E}">
        <p14:creationId xmlns:p14="http://schemas.microsoft.com/office/powerpoint/2010/main" val="212031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E427-2F56-388E-43AC-F999894E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685" y="2690018"/>
            <a:ext cx="3541295" cy="1325563"/>
          </a:xfrm>
        </p:spPr>
        <p:txBody>
          <a:bodyPr/>
          <a:lstStyle/>
          <a:p>
            <a:r>
              <a:rPr lang="en-US" dirty="0"/>
              <a:t>Main figures</a:t>
            </a:r>
          </a:p>
        </p:txBody>
      </p:sp>
    </p:spTree>
    <p:extLst>
      <p:ext uri="{BB962C8B-B14F-4D97-AF65-F5344CB8AC3E}">
        <p14:creationId xmlns:p14="http://schemas.microsoft.com/office/powerpoint/2010/main" val="300292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518F-DDE3-F98C-E83D-1EC07B5E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47" y="-218891"/>
            <a:ext cx="10712926" cy="1070266"/>
          </a:xfrm>
        </p:spPr>
        <p:txBody>
          <a:bodyPr/>
          <a:lstStyle/>
          <a:p>
            <a:r>
              <a:rPr lang="en-US" dirty="0"/>
              <a:t>Workflow chart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4EA37-8BB9-AFD0-65CB-385100FAD42D}"/>
                  </a:ext>
                </a:extLst>
              </p:cNvPr>
              <p:cNvSpPr txBox="1"/>
              <p:nvPr/>
            </p:nvSpPr>
            <p:spPr>
              <a:xfrm>
                <a:off x="1059131" y="6375803"/>
                <a:ext cx="3688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𝐶𝐶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4EA37-8BB9-AFD0-65CB-385100FAD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31" y="6375803"/>
                <a:ext cx="3688382" cy="369332"/>
              </a:xfrm>
              <a:prstGeom prst="rect">
                <a:avLst/>
              </a:prstGeom>
              <a:blipFill>
                <a:blip r:embed="rId3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EAE930-DBFE-E88C-3ADF-219A4D190ED6}"/>
                  </a:ext>
                </a:extLst>
              </p:cNvPr>
              <p:cNvSpPr txBox="1"/>
              <p:nvPr/>
            </p:nvSpPr>
            <p:spPr>
              <a:xfrm>
                <a:off x="7749130" y="6333801"/>
                <a:ext cx="2878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EAE930-DBFE-E88C-3ADF-219A4D190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130" y="6333801"/>
                <a:ext cx="28787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B67AD12-637A-29CD-163D-3A86509ABB92}"/>
              </a:ext>
            </a:extLst>
          </p:cNvPr>
          <p:cNvGrpSpPr/>
          <p:nvPr/>
        </p:nvGrpSpPr>
        <p:grpSpPr>
          <a:xfrm>
            <a:off x="603743" y="1285543"/>
            <a:ext cx="7185145" cy="4166381"/>
            <a:chOff x="603743" y="1285543"/>
            <a:chExt cx="7185145" cy="416638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F8941C-0347-15F9-F98D-6A0B96887970}"/>
                </a:ext>
              </a:extLst>
            </p:cNvPr>
            <p:cNvSpPr txBox="1"/>
            <p:nvPr/>
          </p:nvSpPr>
          <p:spPr>
            <a:xfrm>
              <a:off x="603743" y="1285543"/>
              <a:ext cx="7145386" cy="41663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5275D8E-050B-D855-187A-2240F7B96E7D}"/>
                </a:ext>
              </a:extLst>
            </p:cNvPr>
            <p:cNvGrpSpPr/>
            <p:nvPr/>
          </p:nvGrpSpPr>
          <p:grpSpPr>
            <a:xfrm>
              <a:off x="747120" y="1452346"/>
              <a:ext cx="7041768" cy="3953308"/>
              <a:chOff x="747120" y="932566"/>
              <a:chExt cx="7041768" cy="39533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171C2723-1563-0AD0-E140-D42B1CB3C7AD}"/>
                      </a:ext>
                    </a:extLst>
                  </p:cNvPr>
                  <p:cNvSpPr txBox="1"/>
                  <p:nvPr/>
                </p:nvSpPr>
                <p:spPr>
                  <a:xfrm>
                    <a:off x="747120" y="963956"/>
                    <a:ext cx="1024082" cy="3900130"/>
                  </a:xfrm>
                  <a:prstGeom prst="roundRect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S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:endParaRPr lang="en-US" sz="1400" dirty="0"/>
                  </a:p>
                  <a:p>
                    <a:r>
                      <a:rPr lang="en-US" sz="1400" dirty="0"/>
                      <a:t>P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</a:p>
                  <a:p>
                    <a:endParaRPr lang="en-US" sz="1400" dirty="0"/>
                  </a:p>
                  <a:p>
                    <a:r>
                      <a:rPr lang="en-US" sz="1400" dirty="0"/>
                      <a:t>D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:endParaRPr lang="en-US" sz="1400" dirty="0"/>
                  </a:p>
                  <a:p>
                    <a:r>
                      <a:rPr lang="en-US" sz="1400" dirty="0"/>
                      <a:t>F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oMath>
                    </a14:m>
                    <a:r>
                      <a:rPr lang="en-US" sz="1400" dirty="0"/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oMath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171C2723-1563-0AD0-E140-D42B1CB3C7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120" y="963956"/>
                    <a:ext cx="1024082" cy="3900130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B7BF9C0-C321-D589-D9B9-FBEAAB08DDA5}"/>
                      </a:ext>
                    </a:extLst>
                  </p:cNvPr>
                  <p:cNvSpPr txBox="1"/>
                  <p:nvPr/>
                </p:nvSpPr>
                <p:spPr>
                  <a:xfrm>
                    <a:off x="1992592" y="932566"/>
                    <a:ext cx="1024460" cy="2188488"/>
                  </a:xfrm>
                  <a:prstGeom prst="roundRect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rgbClr val="FF0000"/>
                        </a:solidFill>
                      </a:rPr>
                      <a:t>S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  <a:p>
                    <a:r>
                      <a:rPr lang="en-US" sz="1400" dirty="0">
                        <a:solidFill>
                          <a:srgbClr val="FF0000"/>
                        </a:solidFill>
                      </a:rPr>
                      <a:t>P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  <a:p>
                    <a:r>
                      <a:rPr lang="en-US" sz="1400" dirty="0">
                        <a:solidFill>
                          <a:srgbClr val="FF0000"/>
                        </a:solidFill>
                      </a:rPr>
                      <a:t>D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FF000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B7BF9C0-C321-D589-D9B9-FBEAAB08DD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2592" y="932566"/>
                    <a:ext cx="1024460" cy="2188488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06624E6-A106-2A69-94F9-EC3B9A187E62}"/>
                      </a:ext>
                    </a:extLst>
                  </p:cNvPr>
                  <p:cNvSpPr txBox="1"/>
                  <p:nvPr/>
                </p:nvSpPr>
                <p:spPr>
                  <a:xfrm>
                    <a:off x="1992592" y="3130655"/>
                    <a:ext cx="1024082" cy="1755219"/>
                  </a:xfrm>
                  <a:prstGeom prst="roundRect">
                    <a:avLst/>
                  </a:prstGeom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rgbClr val="00B0F0"/>
                        </a:solidFill>
                      </a:rPr>
                      <a:t>S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00B0F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00B0F0"/>
                      </a:solidFill>
                    </a:endParaRPr>
                  </a:p>
                  <a:p>
                    <a:r>
                      <a:rPr lang="en-US" sz="1400" dirty="0">
                        <a:solidFill>
                          <a:srgbClr val="00B0F0"/>
                        </a:solidFill>
                      </a:rPr>
                      <a:t>P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00B0F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a14:m>
                    <a:endParaRPr lang="en-US" sz="1400" b="0" dirty="0">
                      <a:solidFill>
                        <a:srgbClr val="00B0F0"/>
                      </a:solidFill>
                    </a:endParaRPr>
                  </a:p>
                  <a:p>
                    <a:r>
                      <a:rPr lang="en-US" sz="1400" dirty="0">
                        <a:solidFill>
                          <a:srgbClr val="00B0F0"/>
                        </a:solidFill>
                      </a:rPr>
                      <a:t>F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00B0F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00B0F0"/>
                      </a:solidFill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oMath>
                    </a14:m>
                    <a:r>
                      <a:rPr lang="en-US" sz="1400" dirty="0">
                        <a:solidFill>
                          <a:srgbClr val="00B0F0"/>
                        </a:solidFill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</m:oMath>
                    </a14:m>
                    <a:endParaRPr lang="en-US" sz="1400" dirty="0">
                      <a:solidFill>
                        <a:srgbClr val="00B0F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06624E6-A106-2A69-94F9-EC3B9A187E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2592" y="3130655"/>
                    <a:ext cx="1024082" cy="1755219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Elbow Connector 24">
                <a:extLst>
                  <a:ext uri="{FF2B5EF4-FFF2-40B4-BE49-F238E27FC236}">
                    <a16:creationId xmlns:a16="http://schemas.microsoft.com/office/drawing/2014/main" id="{4D0736AB-7E9E-9787-A532-0736B86EB0A2}"/>
                  </a:ext>
                </a:extLst>
              </p:cNvPr>
              <p:cNvCxnSpPr>
                <a:cxnSpLocks/>
                <a:stCxn id="4" idx="3"/>
                <a:endCxn id="8" idx="1"/>
              </p:cNvCxnSpPr>
              <p:nvPr/>
            </p:nvCxnSpPr>
            <p:spPr>
              <a:xfrm>
                <a:off x="1771202" y="2914021"/>
                <a:ext cx="221390" cy="109424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A59FBE11-90AC-0C09-D9FC-3499BE1EEDD6}"/>
                  </a:ext>
                </a:extLst>
              </p:cNvPr>
              <p:cNvCxnSpPr>
                <a:cxnSpLocks/>
                <a:stCxn id="4" idx="3"/>
                <a:endCxn id="7" idx="1"/>
              </p:cNvCxnSpPr>
              <p:nvPr/>
            </p:nvCxnSpPr>
            <p:spPr>
              <a:xfrm flipV="1">
                <a:off x="1771202" y="2026810"/>
                <a:ext cx="221390" cy="88721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4167E6A6-DBDD-B90A-5B39-C6E1C8EFB746}"/>
                  </a:ext>
                </a:extLst>
              </p:cNvPr>
              <p:cNvGrpSpPr/>
              <p:nvPr/>
            </p:nvGrpSpPr>
            <p:grpSpPr>
              <a:xfrm>
                <a:off x="3010844" y="1219255"/>
                <a:ext cx="4778044" cy="2941056"/>
                <a:chOff x="4027052" y="1438473"/>
                <a:chExt cx="4778044" cy="294105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8CD570C-FE7D-1F84-EED7-6E66C0BE8284}"/>
                    </a:ext>
                  </a:extLst>
                </p:cNvPr>
                <p:cNvGrpSpPr/>
                <p:nvPr/>
              </p:nvGrpSpPr>
              <p:grpSpPr>
                <a:xfrm>
                  <a:off x="4027052" y="2222632"/>
                  <a:ext cx="4778044" cy="1372738"/>
                  <a:chOff x="5093953" y="2457952"/>
                  <a:chExt cx="4778044" cy="1372738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B977E6E0-4FB3-0C70-5A54-54BB45ABE67D}"/>
                      </a:ext>
                    </a:extLst>
                  </p:cNvPr>
                  <p:cNvGrpSpPr/>
                  <p:nvPr/>
                </p:nvGrpSpPr>
                <p:grpSpPr>
                  <a:xfrm>
                    <a:off x="5093953" y="2554048"/>
                    <a:ext cx="4778044" cy="1276642"/>
                    <a:chOff x="5293788" y="1651759"/>
                    <a:chExt cx="4778044" cy="1276642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11784C3B-D5BB-3C1C-9571-6651A403C2B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93788" y="1651759"/>
                          <a:ext cx="4738285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F0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11784C3B-D5BB-3C1C-9571-6651A403C2B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93788" y="1651759"/>
                          <a:ext cx="4738285" cy="338554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b="-1111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BB86F814-A385-10A3-FE00-EDBD251172C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303727" y="2126359"/>
                          <a:ext cx="4738286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F0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BB86F814-A385-10A3-FE00-EDBD251172C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303727" y="2126359"/>
                          <a:ext cx="4738286" cy="338554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b="-714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7" name="TextBox 16">
                          <a:extLst>
                            <a:ext uri="{FF2B5EF4-FFF2-40B4-BE49-F238E27FC236}">
                              <a16:creationId xmlns:a16="http://schemas.microsoft.com/office/drawing/2014/main" id="{EC6D8A82-C313-9170-068D-21021475715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333546" y="2589847"/>
                          <a:ext cx="4738286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𝐷𝐶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𝐷𝐷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F0"/>
                            </a:solidFill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17" name="TextBox 16">
                          <a:extLst>
                            <a:ext uri="{FF2B5EF4-FFF2-40B4-BE49-F238E27FC236}">
                              <a16:creationId xmlns:a16="http://schemas.microsoft.com/office/drawing/2014/main" id="{EC6D8A82-C313-9170-068D-21021475715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333546" y="2589847"/>
                          <a:ext cx="4738286" cy="338554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b="-1111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46" name="L-Shape 45">
                    <a:extLst>
                      <a:ext uri="{FF2B5EF4-FFF2-40B4-BE49-F238E27FC236}">
                        <a16:creationId xmlns:a16="http://schemas.microsoft.com/office/drawing/2014/main" id="{FB187FA7-2B6F-2DFB-C785-7A038762192B}"/>
                      </a:ext>
                    </a:extLst>
                  </p:cNvPr>
                  <p:cNvSpPr/>
                  <p:nvPr/>
                </p:nvSpPr>
                <p:spPr>
                  <a:xfrm flipH="1">
                    <a:off x="5786421" y="2471408"/>
                    <a:ext cx="4045815" cy="1325681"/>
                  </a:xfrm>
                  <a:custGeom>
                    <a:avLst/>
                    <a:gdLst>
                      <a:gd name="connsiteX0" fmla="*/ 0 w 4500903"/>
                      <a:gd name="connsiteY0" fmla="*/ 0 h 1608812"/>
                      <a:gd name="connsiteX1" fmla="*/ 1514616 w 4500903"/>
                      <a:gd name="connsiteY1" fmla="*/ 0 h 1608812"/>
                      <a:gd name="connsiteX2" fmla="*/ 1514616 w 4500903"/>
                      <a:gd name="connsiteY2" fmla="*/ 800239 h 1608812"/>
                      <a:gd name="connsiteX3" fmla="*/ 4500903 w 4500903"/>
                      <a:gd name="connsiteY3" fmla="*/ 800239 h 1608812"/>
                      <a:gd name="connsiteX4" fmla="*/ 4500903 w 4500903"/>
                      <a:gd name="connsiteY4" fmla="*/ 1608812 h 1608812"/>
                      <a:gd name="connsiteX5" fmla="*/ 0 w 4500903"/>
                      <a:gd name="connsiteY5" fmla="*/ 1608812 h 1608812"/>
                      <a:gd name="connsiteX6" fmla="*/ 0 w 4500903"/>
                      <a:gd name="connsiteY6" fmla="*/ 0 h 1608812"/>
                      <a:gd name="connsiteX0" fmla="*/ 0 w 4500903"/>
                      <a:gd name="connsiteY0" fmla="*/ 0 h 1608812"/>
                      <a:gd name="connsiteX1" fmla="*/ 1514616 w 4500903"/>
                      <a:gd name="connsiteY1" fmla="*/ 0 h 1608812"/>
                      <a:gd name="connsiteX2" fmla="*/ 1508310 w 4500903"/>
                      <a:gd name="connsiteY2" fmla="*/ 1247980 h 1608812"/>
                      <a:gd name="connsiteX3" fmla="*/ 4500903 w 4500903"/>
                      <a:gd name="connsiteY3" fmla="*/ 800239 h 1608812"/>
                      <a:gd name="connsiteX4" fmla="*/ 4500903 w 4500903"/>
                      <a:gd name="connsiteY4" fmla="*/ 1608812 h 1608812"/>
                      <a:gd name="connsiteX5" fmla="*/ 0 w 4500903"/>
                      <a:gd name="connsiteY5" fmla="*/ 1608812 h 1608812"/>
                      <a:gd name="connsiteX6" fmla="*/ 0 w 4500903"/>
                      <a:gd name="connsiteY6" fmla="*/ 0 h 1608812"/>
                      <a:gd name="connsiteX0" fmla="*/ 0 w 4500903"/>
                      <a:gd name="connsiteY0" fmla="*/ 0 h 1608812"/>
                      <a:gd name="connsiteX1" fmla="*/ 1514616 w 4500903"/>
                      <a:gd name="connsiteY1" fmla="*/ 0 h 1608812"/>
                      <a:gd name="connsiteX2" fmla="*/ 1508310 w 4500903"/>
                      <a:gd name="connsiteY2" fmla="*/ 1247980 h 1608812"/>
                      <a:gd name="connsiteX3" fmla="*/ 4500903 w 4500903"/>
                      <a:gd name="connsiteY3" fmla="*/ 1247979 h 1608812"/>
                      <a:gd name="connsiteX4" fmla="*/ 4500903 w 4500903"/>
                      <a:gd name="connsiteY4" fmla="*/ 1608812 h 1608812"/>
                      <a:gd name="connsiteX5" fmla="*/ 0 w 4500903"/>
                      <a:gd name="connsiteY5" fmla="*/ 1608812 h 1608812"/>
                      <a:gd name="connsiteX6" fmla="*/ 0 w 4500903"/>
                      <a:gd name="connsiteY6" fmla="*/ 0 h 1608812"/>
                      <a:gd name="connsiteX0" fmla="*/ 0 w 4500903"/>
                      <a:gd name="connsiteY0" fmla="*/ 0 h 1608812"/>
                      <a:gd name="connsiteX1" fmla="*/ 1443989 w 4500903"/>
                      <a:gd name="connsiteY1" fmla="*/ 0 h 1608812"/>
                      <a:gd name="connsiteX2" fmla="*/ 1508310 w 4500903"/>
                      <a:gd name="connsiteY2" fmla="*/ 1247980 h 1608812"/>
                      <a:gd name="connsiteX3" fmla="*/ 4500903 w 4500903"/>
                      <a:gd name="connsiteY3" fmla="*/ 1247979 h 1608812"/>
                      <a:gd name="connsiteX4" fmla="*/ 4500903 w 4500903"/>
                      <a:gd name="connsiteY4" fmla="*/ 1608812 h 1608812"/>
                      <a:gd name="connsiteX5" fmla="*/ 0 w 4500903"/>
                      <a:gd name="connsiteY5" fmla="*/ 1608812 h 1608812"/>
                      <a:gd name="connsiteX6" fmla="*/ 0 w 4500903"/>
                      <a:gd name="connsiteY6" fmla="*/ 0 h 1608812"/>
                      <a:gd name="connsiteX0" fmla="*/ 0 w 4500903"/>
                      <a:gd name="connsiteY0" fmla="*/ 0 h 1608812"/>
                      <a:gd name="connsiteX1" fmla="*/ 1443989 w 4500903"/>
                      <a:gd name="connsiteY1" fmla="*/ 0 h 1608812"/>
                      <a:gd name="connsiteX2" fmla="*/ 1437682 w 4500903"/>
                      <a:gd name="connsiteY2" fmla="*/ 1255651 h 1608812"/>
                      <a:gd name="connsiteX3" fmla="*/ 4500903 w 4500903"/>
                      <a:gd name="connsiteY3" fmla="*/ 1247979 h 1608812"/>
                      <a:gd name="connsiteX4" fmla="*/ 4500903 w 4500903"/>
                      <a:gd name="connsiteY4" fmla="*/ 1608812 h 1608812"/>
                      <a:gd name="connsiteX5" fmla="*/ 0 w 4500903"/>
                      <a:gd name="connsiteY5" fmla="*/ 1608812 h 1608812"/>
                      <a:gd name="connsiteX6" fmla="*/ 0 w 4500903"/>
                      <a:gd name="connsiteY6" fmla="*/ 0 h 1608812"/>
                      <a:gd name="connsiteX0" fmla="*/ 0 w 4500903"/>
                      <a:gd name="connsiteY0" fmla="*/ 12153 h 1620965"/>
                      <a:gd name="connsiteX1" fmla="*/ 1532446 w 4500903"/>
                      <a:gd name="connsiteY1" fmla="*/ 0 h 1620965"/>
                      <a:gd name="connsiteX2" fmla="*/ 1437682 w 4500903"/>
                      <a:gd name="connsiteY2" fmla="*/ 1267804 h 1620965"/>
                      <a:gd name="connsiteX3" fmla="*/ 4500903 w 4500903"/>
                      <a:gd name="connsiteY3" fmla="*/ 1260132 h 1620965"/>
                      <a:gd name="connsiteX4" fmla="*/ 4500903 w 4500903"/>
                      <a:gd name="connsiteY4" fmla="*/ 1620965 h 1620965"/>
                      <a:gd name="connsiteX5" fmla="*/ 0 w 4500903"/>
                      <a:gd name="connsiteY5" fmla="*/ 1620965 h 1620965"/>
                      <a:gd name="connsiteX6" fmla="*/ 0 w 4500903"/>
                      <a:gd name="connsiteY6" fmla="*/ 12153 h 1620965"/>
                      <a:gd name="connsiteX0" fmla="*/ 0 w 4500903"/>
                      <a:gd name="connsiteY0" fmla="*/ 12153 h 1620965"/>
                      <a:gd name="connsiteX1" fmla="*/ 1532446 w 4500903"/>
                      <a:gd name="connsiteY1" fmla="*/ 0 h 1620965"/>
                      <a:gd name="connsiteX2" fmla="*/ 1526138 w 4500903"/>
                      <a:gd name="connsiteY2" fmla="*/ 1279957 h 1620965"/>
                      <a:gd name="connsiteX3" fmla="*/ 4500903 w 4500903"/>
                      <a:gd name="connsiteY3" fmla="*/ 1260132 h 1620965"/>
                      <a:gd name="connsiteX4" fmla="*/ 4500903 w 4500903"/>
                      <a:gd name="connsiteY4" fmla="*/ 1620965 h 1620965"/>
                      <a:gd name="connsiteX5" fmla="*/ 0 w 4500903"/>
                      <a:gd name="connsiteY5" fmla="*/ 1620965 h 1620965"/>
                      <a:gd name="connsiteX6" fmla="*/ 0 w 4500903"/>
                      <a:gd name="connsiteY6" fmla="*/ 12153 h 1620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500903" h="1620965">
                        <a:moveTo>
                          <a:pt x="0" y="12153"/>
                        </a:moveTo>
                        <a:lnTo>
                          <a:pt x="1532446" y="0"/>
                        </a:lnTo>
                        <a:cubicBezTo>
                          <a:pt x="1530344" y="418550"/>
                          <a:pt x="1528240" y="861407"/>
                          <a:pt x="1526138" y="1279957"/>
                        </a:cubicBezTo>
                        <a:lnTo>
                          <a:pt x="4500903" y="1260132"/>
                        </a:lnTo>
                        <a:lnTo>
                          <a:pt x="4500903" y="1620965"/>
                        </a:lnTo>
                        <a:lnTo>
                          <a:pt x="0" y="1620965"/>
                        </a:lnTo>
                        <a:lnTo>
                          <a:pt x="0" y="12153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chemeClr val="tx2">
                        <a:lumMod val="75000"/>
                        <a:lumOff val="25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D180702-085C-A89A-8BC1-66163A17DEE4}"/>
                      </a:ext>
                    </a:extLst>
                  </p:cNvPr>
                  <p:cNvSpPr/>
                  <p:nvPr/>
                </p:nvSpPr>
                <p:spPr>
                  <a:xfrm>
                    <a:off x="5776484" y="2457952"/>
                    <a:ext cx="2558337" cy="936466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A4FCA29-57BB-9834-29B1-CC67AFD575F5}"/>
                    </a:ext>
                  </a:extLst>
                </p:cNvPr>
                <p:cNvSpPr txBox="1"/>
                <p:nvPr/>
              </p:nvSpPr>
              <p:spPr>
                <a:xfrm>
                  <a:off x="5060488" y="1438473"/>
                  <a:ext cx="18209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Ewald summation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DB56F04-CD75-FE48-409F-C7DD80F96D31}"/>
                    </a:ext>
                  </a:extLst>
                </p:cNvPr>
                <p:cNvSpPr txBox="1"/>
                <p:nvPr/>
              </p:nvSpPr>
              <p:spPr>
                <a:xfrm>
                  <a:off x="5385885" y="4040975"/>
                  <a:ext cx="244522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Plane-wave density fitting</a:t>
                  </a:r>
                </a:p>
              </p:txBody>
            </p:sp>
            <p:sp>
              <p:nvSpPr>
                <p:cNvPr id="61" name="Down Arrow 60">
                  <a:extLst>
                    <a:ext uri="{FF2B5EF4-FFF2-40B4-BE49-F238E27FC236}">
                      <a16:creationId xmlns:a16="http://schemas.microsoft.com/office/drawing/2014/main" id="{2835E69E-5A0A-3DF0-5602-937A27458B40}"/>
                    </a:ext>
                  </a:extLst>
                </p:cNvPr>
                <p:cNvSpPr/>
                <p:nvPr/>
              </p:nvSpPr>
              <p:spPr>
                <a:xfrm>
                  <a:off x="6482372" y="3627959"/>
                  <a:ext cx="252249" cy="393356"/>
                </a:xfrm>
                <a:prstGeom prst="downArrow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Down Arrow 61">
                  <a:extLst>
                    <a:ext uri="{FF2B5EF4-FFF2-40B4-BE49-F238E27FC236}">
                      <a16:creationId xmlns:a16="http://schemas.microsoft.com/office/drawing/2014/main" id="{7FFE9636-743B-1D73-6992-2900A6E37A3E}"/>
                    </a:ext>
                  </a:extLst>
                </p:cNvPr>
                <p:cNvSpPr/>
                <p:nvPr/>
              </p:nvSpPr>
              <p:spPr>
                <a:xfrm rot="10800000">
                  <a:off x="5824925" y="1780810"/>
                  <a:ext cx="252249" cy="393356"/>
                </a:xfrm>
                <a:prstGeom prst="downArrow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2556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5658-5338-E5AC-7271-E1A9CE56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20" y="93521"/>
            <a:ext cx="2909934" cy="983841"/>
          </a:xfrm>
        </p:spPr>
        <p:txBody>
          <a:bodyPr>
            <a:normAutofit/>
          </a:bodyPr>
          <a:lstStyle/>
          <a:p>
            <a:r>
              <a:rPr lang="en-US" sz="2400" dirty="0"/>
              <a:t>Si energy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1CBEF-E437-24D2-69D9-136B8307C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37" y="1204109"/>
            <a:ext cx="5185843" cy="496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9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924174B-FAFC-980F-28FF-70FAF8FAAF2D}"/>
              </a:ext>
            </a:extLst>
          </p:cNvPr>
          <p:cNvGrpSpPr/>
          <p:nvPr/>
        </p:nvGrpSpPr>
        <p:grpSpPr>
          <a:xfrm>
            <a:off x="160011" y="104840"/>
            <a:ext cx="11767856" cy="3177875"/>
            <a:chOff x="160011" y="104840"/>
            <a:chExt cx="11767856" cy="31778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FD996B-F544-0216-8D9C-55B257786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11" y="104840"/>
              <a:ext cx="11767856" cy="31778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62E286-C385-9935-B83C-A89C4BFF2C35}"/>
                </a:ext>
              </a:extLst>
            </p:cNvPr>
            <p:cNvSpPr txBox="1"/>
            <p:nvPr/>
          </p:nvSpPr>
          <p:spPr>
            <a:xfrm>
              <a:off x="850644" y="17851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(a)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1342C-BD59-9CC7-723C-FBDBD39657B0}"/>
                </a:ext>
              </a:extLst>
            </p:cNvPr>
            <p:cNvSpPr txBox="1"/>
            <p:nvPr/>
          </p:nvSpPr>
          <p:spPr>
            <a:xfrm>
              <a:off x="4778327" y="178515"/>
              <a:ext cx="457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C94609-1164-4CCC-5C68-0515DF8624F6}"/>
                </a:ext>
              </a:extLst>
            </p:cNvPr>
            <p:cNvSpPr txBox="1"/>
            <p:nvPr/>
          </p:nvSpPr>
          <p:spPr>
            <a:xfrm>
              <a:off x="8710654" y="178515"/>
              <a:ext cx="457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A6F526-72B2-E3A3-1B30-7323DAB6CF7D}"/>
                    </a:ext>
                  </a:extLst>
                </p:cNvPr>
                <p:cNvSpPr txBox="1"/>
                <p:nvPr/>
              </p:nvSpPr>
              <p:spPr>
                <a:xfrm>
                  <a:off x="6802713" y="1554714"/>
                  <a:ext cx="919098" cy="2610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b="0" i="1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0.55</m:t>
                            </m:r>
                          </m:sup>
                        </m:sSubSup>
                        <m:r>
                          <a:rPr lang="en-US" sz="1600" b="0" i="1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2301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A6F526-72B2-E3A3-1B30-7323DAB6C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2713" y="1554714"/>
                  <a:ext cx="919098" cy="261034"/>
                </a:xfrm>
                <a:prstGeom prst="rect">
                  <a:avLst/>
                </a:prstGeom>
                <a:blipFill>
                  <a:blip r:embed="rId4"/>
                  <a:stretch>
                    <a:fillRect r="-1351" b="-3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F09F98D-84CA-2B33-4B6E-45689332156D}"/>
                    </a:ext>
                  </a:extLst>
                </p:cNvPr>
                <p:cNvSpPr txBox="1"/>
                <p:nvPr/>
              </p:nvSpPr>
              <p:spPr>
                <a:xfrm>
                  <a:off x="5323260" y="1301849"/>
                  <a:ext cx="919098" cy="2575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b="0" i="1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0.43</m:t>
                            </m:r>
                          </m:sup>
                        </m:sSubSup>
                        <m:r>
                          <a:rPr lang="en-US" sz="1600" b="0" i="1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00800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F09F98D-84CA-2B33-4B6E-456893321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260" y="1301849"/>
                  <a:ext cx="919098" cy="257506"/>
                </a:xfrm>
                <a:prstGeom prst="rect">
                  <a:avLst/>
                </a:prstGeom>
                <a:blipFill>
                  <a:blip r:embed="rId5"/>
                  <a:stretch>
                    <a:fillRect r="-2740" b="-38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BE5FF43-258F-216C-15B7-3911E1CDA2BE}"/>
                    </a:ext>
                  </a:extLst>
                </p:cNvPr>
                <p:cNvSpPr txBox="1"/>
                <p:nvPr/>
              </p:nvSpPr>
              <p:spPr>
                <a:xfrm>
                  <a:off x="6192788" y="315578"/>
                  <a:ext cx="919098" cy="2575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b="0" i="1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600" b="0" i="1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0.26</m:t>
                            </m:r>
                          </m:sup>
                        </m:sSubSup>
                        <m:r>
                          <a:rPr lang="en-US" sz="1600" b="0" i="1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FF1D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BE5FF43-258F-216C-15B7-3911E1CDA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788" y="315578"/>
                  <a:ext cx="919098" cy="257506"/>
                </a:xfrm>
                <a:prstGeom prst="rect">
                  <a:avLst/>
                </a:prstGeom>
                <a:blipFill>
                  <a:blip r:embed="rId6"/>
                  <a:stretch>
                    <a:fillRect r="-1351" b="-3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C37EB8-4970-2D09-5259-E89F0043AA62}"/>
              </a:ext>
            </a:extLst>
          </p:cNvPr>
          <p:cNvGrpSpPr/>
          <p:nvPr/>
        </p:nvGrpSpPr>
        <p:grpSpPr>
          <a:xfrm>
            <a:off x="162727" y="3666537"/>
            <a:ext cx="11762423" cy="3191463"/>
            <a:chOff x="162727" y="3666537"/>
            <a:chExt cx="11762423" cy="31914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915ED7-BFD8-C797-23D8-49FCAD62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2727" y="3666537"/>
              <a:ext cx="11762423" cy="319146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CFD32D-71DF-56E7-ECCA-E44305FAE2BB}"/>
                </a:ext>
              </a:extLst>
            </p:cNvPr>
            <p:cNvSpPr txBox="1"/>
            <p:nvPr/>
          </p:nvSpPr>
          <p:spPr>
            <a:xfrm>
              <a:off x="796854" y="37479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(a)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34327B4-7528-E313-B0DD-AD84FC383679}"/>
                </a:ext>
              </a:extLst>
            </p:cNvPr>
            <p:cNvSpPr txBox="1"/>
            <p:nvPr/>
          </p:nvSpPr>
          <p:spPr>
            <a:xfrm>
              <a:off x="4750302" y="3743291"/>
              <a:ext cx="457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(b)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B7F363-92EC-16E5-BCDF-4F5CBD29BD8C}"/>
                </a:ext>
              </a:extLst>
            </p:cNvPr>
            <p:cNvSpPr txBox="1"/>
            <p:nvPr/>
          </p:nvSpPr>
          <p:spPr>
            <a:xfrm>
              <a:off x="8692914" y="3751559"/>
              <a:ext cx="457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731520">
                <a:spcAft>
                  <a:spcPts val="600"/>
                </a:spcAft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(c)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FD706F6-93B3-248E-0CFD-431AC7A2FB2E}"/>
                    </a:ext>
                  </a:extLst>
                </p:cNvPr>
                <p:cNvSpPr txBox="1"/>
                <p:nvPr/>
              </p:nvSpPr>
              <p:spPr>
                <a:xfrm>
                  <a:off x="9914735" y="4273706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2.83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2301FF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FD706F6-93B3-248E-0CFD-431AC7A2F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4735" y="4273706"/>
                  <a:ext cx="735315" cy="323165"/>
                </a:xfrm>
                <a:prstGeom prst="rect">
                  <a:avLst/>
                </a:prstGeom>
                <a:blipFill>
                  <a:blip r:embed="rId8"/>
                  <a:stretch>
                    <a:fillRect l="-10169" t="-3846" r="-16949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9D173E2-1C06-6971-10A1-C23D68F1E712}"/>
                    </a:ext>
                  </a:extLst>
                </p:cNvPr>
                <p:cNvSpPr txBox="1"/>
                <p:nvPr/>
              </p:nvSpPr>
              <p:spPr>
                <a:xfrm>
                  <a:off x="10544430" y="3846271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2.82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00800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9D173E2-1C06-6971-10A1-C23D68F1E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430" y="3846271"/>
                  <a:ext cx="735315" cy="323165"/>
                </a:xfrm>
                <a:prstGeom prst="rect">
                  <a:avLst/>
                </a:prstGeom>
                <a:blipFill>
                  <a:blip r:embed="rId9"/>
                  <a:stretch>
                    <a:fillRect l="-10169" t="-3704" r="-16949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EFD051-5A56-3D1E-8AEA-A043F053EA9A}"/>
                    </a:ext>
                  </a:extLst>
                </p:cNvPr>
                <p:cNvSpPr txBox="1"/>
                <p:nvPr/>
              </p:nvSpPr>
              <p:spPr>
                <a:xfrm>
                  <a:off x="10921301" y="4492105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2.67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FF1D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EFD051-5A56-3D1E-8AEA-A043F053E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1301" y="4492105"/>
                  <a:ext cx="735315" cy="323165"/>
                </a:xfrm>
                <a:prstGeom prst="rect">
                  <a:avLst/>
                </a:prstGeom>
                <a:blipFill>
                  <a:blip r:embed="rId10"/>
                  <a:stretch>
                    <a:fillRect l="-10345" t="-3704" r="-18966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3DEC5B7-95CE-59BC-34EE-7475BC74B0AA}"/>
                    </a:ext>
                  </a:extLst>
                </p:cNvPr>
                <p:cNvSpPr txBox="1"/>
                <p:nvPr/>
              </p:nvSpPr>
              <p:spPr>
                <a:xfrm>
                  <a:off x="6949601" y="4860040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1.94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2301FF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3DEC5B7-95CE-59BC-34EE-7475BC74B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9601" y="4860040"/>
                  <a:ext cx="735315" cy="323165"/>
                </a:xfrm>
                <a:prstGeom prst="rect">
                  <a:avLst/>
                </a:prstGeom>
                <a:blipFill>
                  <a:blip r:embed="rId11"/>
                  <a:stretch>
                    <a:fillRect l="-10169" t="-3704" r="-15254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E03E0A2-EEBE-202C-E226-FD655795C21F}"/>
                    </a:ext>
                  </a:extLst>
                </p:cNvPr>
                <p:cNvSpPr txBox="1"/>
                <p:nvPr/>
              </p:nvSpPr>
              <p:spPr>
                <a:xfrm>
                  <a:off x="5323260" y="4610299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1.60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00800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E03E0A2-EEBE-202C-E226-FD655795C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260" y="4610299"/>
                  <a:ext cx="735315" cy="323165"/>
                </a:xfrm>
                <a:prstGeom prst="rect">
                  <a:avLst/>
                </a:prstGeom>
                <a:blipFill>
                  <a:blip r:embed="rId12"/>
                  <a:stretch>
                    <a:fillRect l="-10169" t="-3704" r="-16949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4CB7B93-FD0B-6CE0-533E-1BB75B5C7F44}"/>
                    </a:ext>
                  </a:extLst>
                </p:cNvPr>
                <p:cNvSpPr txBox="1"/>
                <p:nvPr/>
              </p:nvSpPr>
              <p:spPr>
                <a:xfrm>
                  <a:off x="6680880" y="3846272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1.72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FF1D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4CB7B93-FD0B-6CE0-533E-1BB75B5C7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880" y="3846272"/>
                  <a:ext cx="735315" cy="323165"/>
                </a:xfrm>
                <a:prstGeom prst="rect">
                  <a:avLst/>
                </a:prstGeom>
                <a:blipFill>
                  <a:blip r:embed="rId13"/>
                  <a:stretch>
                    <a:fillRect l="-10169" t="-3704" r="-15254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E287DAC-5B46-C345-25AB-655D7E9C8F0F}"/>
                    </a:ext>
                  </a:extLst>
                </p:cNvPr>
                <p:cNvSpPr txBox="1"/>
                <p:nvPr/>
              </p:nvSpPr>
              <p:spPr>
                <a:xfrm>
                  <a:off x="1238450" y="4834898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1.56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00800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00800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E287DAC-5B46-C345-25AB-655D7E9C8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450" y="4834898"/>
                  <a:ext cx="735315" cy="323165"/>
                </a:xfrm>
                <a:prstGeom prst="rect">
                  <a:avLst/>
                </a:prstGeom>
                <a:blipFill>
                  <a:blip r:embed="rId14"/>
                  <a:stretch>
                    <a:fillRect l="-10169" t="-3704" r="-16949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CD5022-E332-D428-8AA1-6CF91D316145}"/>
                    </a:ext>
                  </a:extLst>
                </p:cNvPr>
                <p:cNvSpPr txBox="1"/>
                <p:nvPr/>
              </p:nvSpPr>
              <p:spPr>
                <a:xfrm>
                  <a:off x="2523679" y="3950541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1.52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2301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2301FF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CCD5022-E332-D428-8AA1-6CF91D316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3679" y="3950541"/>
                  <a:ext cx="735315" cy="323165"/>
                </a:xfrm>
                <a:prstGeom prst="rect">
                  <a:avLst/>
                </a:prstGeom>
                <a:blipFill>
                  <a:blip r:embed="rId15"/>
                  <a:stretch>
                    <a:fillRect l="-10169" t="-3846" r="-16949"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6C2A3D5-E75A-6919-06BE-4EF14DDF3085}"/>
                    </a:ext>
                  </a:extLst>
                </p:cNvPr>
                <p:cNvSpPr txBox="1"/>
                <p:nvPr/>
              </p:nvSpPr>
              <p:spPr>
                <a:xfrm>
                  <a:off x="3090263" y="4834899"/>
                  <a:ext cx="735315" cy="3231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73152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600" i="1" kern="1200" smtClean="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</a:rPr>
                              <m:t>1.75</m:t>
                            </m:r>
                          </m:sup>
                        </m:sSup>
                        <m:r>
                          <a:rPr lang="en-US" sz="1600" i="1" kern="1200">
                            <a:solidFill>
                              <a:srgbClr val="FF1D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rgbClr val="FF1D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6C2A3D5-E75A-6919-06BE-4EF14DDF3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0263" y="4834899"/>
                  <a:ext cx="735315" cy="323165"/>
                </a:xfrm>
                <a:prstGeom prst="rect">
                  <a:avLst/>
                </a:prstGeom>
                <a:blipFill>
                  <a:blip r:embed="rId16"/>
                  <a:stretch>
                    <a:fillRect l="-10169" t="-3704" r="-16949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1148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C955-A566-C3D8-2E34-77641629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/>
              <a:t>Omega dependence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4CE001-B595-969F-E3CD-C0234BFE8B9C}"/>
              </a:ext>
            </a:extLst>
          </p:cNvPr>
          <p:cNvGrpSpPr/>
          <p:nvPr/>
        </p:nvGrpSpPr>
        <p:grpSpPr>
          <a:xfrm>
            <a:off x="3363334" y="1343818"/>
            <a:ext cx="5321300" cy="4660900"/>
            <a:chOff x="3363334" y="1343818"/>
            <a:chExt cx="5321300" cy="46609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C0E774-9024-3788-E391-B241B00D1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3334" y="1343818"/>
              <a:ext cx="5321300" cy="4660900"/>
            </a:xfrm>
            <a:prstGeom prst="rect">
              <a:avLst/>
            </a:prstGeom>
          </p:spPr>
        </p:pic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FD570578-CEE3-2843-B86A-51B0981446E0}"/>
                </a:ext>
              </a:extLst>
            </p:cNvPr>
            <p:cNvSpPr/>
            <p:nvPr/>
          </p:nvSpPr>
          <p:spPr>
            <a:xfrm rot="10800000">
              <a:off x="4238647" y="4462978"/>
              <a:ext cx="494489" cy="209649"/>
            </a:xfrm>
            <a:prstGeom prst="rightArrow">
              <a:avLst/>
            </a:prstGeom>
            <a:solidFill>
              <a:srgbClr val="230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  <a:solidFill>
                  <a:srgbClr val="2301FF"/>
                </a:solidFill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B4A120D7-BB75-6BF9-A175-BCF8031A997D}"/>
                </a:ext>
              </a:extLst>
            </p:cNvPr>
            <p:cNvSpPr/>
            <p:nvPr/>
          </p:nvSpPr>
          <p:spPr>
            <a:xfrm>
              <a:off x="7394418" y="3326554"/>
              <a:ext cx="494489" cy="209649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852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8659-B39C-8665-8F8B-5CC20A8F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4815" y="2300437"/>
            <a:ext cx="2675021" cy="1392305"/>
          </a:xfrm>
        </p:spPr>
        <p:txBody>
          <a:bodyPr/>
          <a:lstStyle/>
          <a:p>
            <a:r>
              <a:rPr lang="en-US" dirty="0"/>
              <a:t>SI figure</a:t>
            </a:r>
          </a:p>
        </p:txBody>
      </p:sp>
    </p:spTree>
    <p:extLst>
      <p:ext uri="{BB962C8B-B14F-4D97-AF65-F5344CB8AC3E}">
        <p14:creationId xmlns:p14="http://schemas.microsoft.com/office/powerpoint/2010/main" val="1416638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D4E5-A6FD-E618-45F3-B2CF65AC4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" y="95257"/>
            <a:ext cx="4196615" cy="761391"/>
          </a:xfrm>
        </p:spPr>
        <p:txBody>
          <a:bodyPr>
            <a:normAutofit/>
          </a:bodyPr>
          <a:lstStyle/>
          <a:p>
            <a:r>
              <a:rPr lang="en-US" sz="1800" dirty="0" err="1"/>
              <a:t>LiF</a:t>
            </a:r>
            <a:r>
              <a:rPr lang="en-US" sz="1800" dirty="0"/>
              <a:t> energy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5FDCA-C79F-CA5E-93AC-3E60447A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847" y="584200"/>
            <a:ext cx="60833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8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8ABE-F943-F86A-0C3B-46CF5993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964"/>
            <a:ext cx="10515600" cy="1325563"/>
          </a:xfrm>
        </p:spPr>
        <p:txBody>
          <a:bodyPr>
            <a:normAutofit/>
          </a:bodyPr>
          <a:lstStyle/>
          <a:p>
            <a:r>
              <a:rPr lang="en-US" sz="1400" dirty="0"/>
              <a:t>SI figures (</a:t>
            </a:r>
            <a:r>
              <a:rPr lang="en-US" sz="1400" dirty="0" err="1"/>
              <a:t>LiF</a:t>
            </a:r>
            <a:r>
              <a:rPr lang="en-US" sz="1400" dirty="0"/>
              <a:t> run time)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CC85E1-EA15-BB6A-C0D3-80BE292624DF}"/>
              </a:ext>
            </a:extLst>
          </p:cNvPr>
          <p:cNvGrpSpPr/>
          <p:nvPr/>
        </p:nvGrpSpPr>
        <p:grpSpPr>
          <a:xfrm>
            <a:off x="2083091" y="-86403"/>
            <a:ext cx="8379345" cy="6813795"/>
            <a:chOff x="2083091" y="-86403"/>
            <a:chExt cx="8379345" cy="681379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E45453-F2E2-9AE9-EBD4-F58D990B2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3091" y="3127414"/>
              <a:ext cx="8379345" cy="3213817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CEB8EE-C07A-CAB3-E94D-BBCC034F36BF}"/>
                </a:ext>
              </a:extLst>
            </p:cNvPr>
            <p:cNvGrpSpPr/>
            <p:nvPr/>
          </p:nvGrpSpPr>
          <p:grpSpPr>
            <a:xfrm>
              <a:off x="2083092" y="-86403"/>
              <a:ext cx="8379344" cy="6813795"/>
              <a:chOff x="2083092" y="-86403"/>
              <a:chExt cx="8379344" cy="681379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36CFDDC-A076-A141-110F-9FBC44A11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3092" y="-86403"/>
                <a:ext cx="8379344" cy="3213817"/>
              </a:xfrm>
              <a:prstGeom prst="rect">
                <a:avLst/>
              </a:prstGeom>
            </p:spPr>
          </p:pic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30C2706-508E-EC21-3576-0D93FF951F99}"/>
                  </a:ext>
                </a:extLst>
              </p:cNvPr>
              <p:cNvGrpSpPr/>
              <p:nvPr/>
            </p:nvGrpSpPr>
            <p:grpSpPr>
              <a:xfrm>
                <a:off x="2857564" y="61453"/>
                <a:ext cx="7499143" cy="5480335"/>
                <a:chOff x="2850008" y="54146"/>
                <a:chExt cx="7499143" cy="548033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B33515D7-64DF-7DD3-BD65-EA3221D816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93999" y="5276975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0.14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2301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" name="TextBox 7">
                      <a:extLst>
                        <a:ext uri="{FF2B5EF4-FFF2-40B4-BE49-F238E27FC236}">
                          <a16:creationId xmlns:a16="http://schemas.microsoft.com/office/drawing/2014/main" id="{B33515D7-64DF-7DD3-BD65-EA3221D816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3999" y="5276975"/>
                      <a:ext cx="919098" cy="25750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1370" b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0AFA0488-89D6-093D-A876-21E3F47A86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34450" y="4410695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0AFA0488-89D6-093D-A876-21E3F47A86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34450" y="4410695"/>
                      <a:ext cx="919098" cy="25750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1351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910BE340-C571-C5E6-64AE-53F8227C94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91006" y="3415662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910BE340-C571-C5E6-64AE-53F8227C94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1006" y="3415662"/>
                      <a:ext cx="919098" cy="25750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740" b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1BE9842B-C0BA-233F-09A3-0D147BB282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7137" y="3687539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1BE9842B-C0BA-233F-09A3-0D147BB2828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7137" y="3687539"/>
                      <a:ext cx="919098" cy="25750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1351" b="-318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2BADD2EF-4E19-03E0-F942-6C45923CA3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40354" y="4614832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00800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2BADD2EF-4E19-03E0-F942-6C45923CA31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40354" y="4614832"/>
                      <a:ext cx="919098" cy="25750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2740" b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7E319DE7-0065-040A-7F3B-A72C6EE1CD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3918" y="5101862"/>
                      <a:ext cx="919098" cy="26103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0.31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2301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7E319DE7-0065-040A-7F3B-A72C6EE1CD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3918" y="5101862"/>
                      <a:ext cx="919098" cy="26103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351" b="-380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A87172F-6143-F4DA-6F2B-CD3AA8C1AB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65477" y="5148222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</a:rPr>
                                  <m:t>0.17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2301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1A87172F-6143-F4DA-6F2B-CD3AA8C1A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65477" y="5148222"/>
                      <a:ext cx="919098" cy="25750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1351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B5C8C52E-F32F-C41A-0040-F3631E80A7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30053" y="4667308"/>
                      <a:ext cx="919098" cy="26103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008001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00800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00800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B5C8C52E-F32F-C41A-0040-F3631E80A75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30053" y="4667308"/>
                      <a:ext cx="919098" cy="26103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1370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1F9018E-EB14-E58D-EF9F-1A0C16C005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54335" y="3825361"/>
                      <a:ext cx="919098" cy="2575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0.02</m:t>
                                </m:r>
                              </m:sup>
                            </m:sSubSup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1F9018E-EB14-E58D-EF9F-1A0C16C005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54335" y="3825361"/>
                      <a:ext cx="919098" cy="257506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2740" b="-318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E006665-70A3-13E2-CF7B-986F9103CD1A}"/>
                    </a:ext>
                  </a:extLst>
                </p:cNvPr>
                <p:cNvSpPr txBox="1"/>
                <p:nvPr/>
              </p:nvSpPr>
              <p:spPr>
                <a:xfrm>
                  <a:off x="2850008" y="63775"/>
                  <a:ext cx="4539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(a)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CFD2F84-8F4E-9E97-508F-15B9415841C0}"/>
                    </a:ext>
                  </a:extLst>
                </p:cNvPr>
                <p:cNvSpPr txBox="1"/>
                <p:nvPr/>
              </p:nvSpPr>
              <p:spPr>
                <a:xfrm>
                  <a:off x="5481353" y="54146"/>
                  <a:ext cx="466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(b)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882BEF6-C6C7-64A1-AD3E-89245287FDF0}"/>
                    </a:ext>
                  </a:extLst>
                </p:cNvPr>
                <p:cNvSpPr txBox="1"/>
                <p:nvPr/>
              </p:nvSpPr>
              <p:spPr>
                <a:xfrm>
                  <a:off x="8195700" y="63773"/>
                  <a:ext cx="4459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(c)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DB17ED5-C03F-F695-EFFF-53D7B5FA7AC2}"/>
                    </a:ext>
                  </a:extLst>
                </p:cNvPr>
                <p:cNvSpPr txBox="1"/>
                <p:nvPr/>
              </p:nvSpPr>
              <p:spPr>
                <a:xfrm>
                  <a:off x="2850008" y="3262179"/>
                  <a:ext cx="466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(d)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C963849-0F41-74DC-74AB-4AB2F5C83B3E}"/>
                    </a:ext>
                  </a:extLst>
                </p:cNvPr>
                <p:cNvSpPr txBox="1"/>
                <p:nvPr/>
              </p:nvSpPr>
              <p:spPr>
                <a:xfrm>
                  <a:off x="5481353" y="3262179"/>
                  <a:ext cx="4475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(e)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B607E-7C07-2889-2611-1F88058FD223}"/>
                    </a:ext>
                  </a:extLst>
                </p:cNvPr>
                <p:cNvSpPr txBox="1"/>
                <p:nvPr/>
              </p:nvSpPr>
              <p:spPr>
                <a:xfrm>
                  <a:off x="8195700" y="3262179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(f)</a:t>
                  </a:r>
                </a:p>
              </p:txBody>
            </p:sp>
          </p:grp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B93EBD27-94B7-7CDB-8A0B-223703D77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21631" t="90748" r="16357" b="391"/>
              <a:stretch/>
            </p:blipFill>
            <p:spPr>
              <a:xfrm>
                <a:off x="4153176" y="6297496"/>
                <a:ext cx="4819857" cy="42989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2723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659354-6B14-A108-B457-EE40F6540998}"/>
              </a:ext>
            </a:extLst>
          </p:cNvPr>
          <p:cNvSpPr txBox="1"/>
          <p:nvPr/>
        </p:nvSpPr>
        <p:spPr>
          <a:xfrm>
            <a:off x="0" y="45522"/>
            <a:ext cx="3126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 wall time (ccpvdz + ccpvqz)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2F23AA-CB0F-1778-FE5B-F2741C8FAA74}"/>
              </a:ext>
            </a:extLst>
          </p:cNvPr>
          <p:cNvGrpSpPr/>
          <p:nvPr/>
        </p:nvGrpSpPr>
        <p:grpSpPr>
          <a:xfrm>
            <a:off x="3629324" y="414854"/>
            <a:ext cx="5750340" cy="6547068"/>
            <a:chOff x="3982409" y="155466"/>
            <a:chExt cx="5750340" cy="654706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2735CF-820F-E425-7241-2ABA55DCE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2409" y="3279385"/>
              <a:ext cx="5750340" cy="308209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534403-52E4-4271-93D0-3404209E4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7130" y="155466"/>
              <a:ext cx="5743751" cy="3111199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0654044-6BF3-DD3F-DBB0-B5AC6828FAEF}"/>
                </a:ext>
              </a:extLst>
            </p:cNvPr>
            <p:cNvGrpSpPr/>
            <p:nvPr/>
          </p:nvGrpSpPr>
          <p:grpSpPr>
            <a:xfrm>
              <a:off x="4628077" y="272624"/>
              <a:ext cx="4768411" cy="6429910"/>
              <a:chOff x="4628077" y="189458"/>
              <a:chExt cx="4768411" cy="642991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3965868-E53B-D9C0-B907-656662C07859}"/>
                  </a:ext>
                </a:extLst>
              </p:cNvPr>
              <p:cNvGrpSpPr/>
              <p:nvPr/>
            </p:nvGrpSpPr>
            <p:grpSpPr>
              <a:xfrm>
                <a:off x="4628077" y="189458"/>
                <a:ext cx="4768411" cy="5204822"/>
                <a:chOff x="4628077" y="189458"/>
                <a:chExt cx="4768411" cy="5204822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C550A3A2-4B20-08A4-D686-6DA1E25F6793}"/>
                    </a:ext>
                  </a:extLst>
                </p:cNvPr>
                <p:cNvGrpSpPr/>
                <p:nvPr/>
              </p:nvGrpSpPr>
              <p:grpSpPr>
                <a:xfrm>
                  <a:off x="4628077" y="189458"/>
                  <a:ext cx="3219389" cy="3471517"/>
                  <a:chOff x="4628077" y="189458"/>
                  <a:chExt cx="3219389" cy="3471517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D2608B0-F519-0443-9209-C916670FBE3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016" y="189458"/>
                    <a:ext cx="4539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(a)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35623A11-5CF3-D65B-8E87-7144207C432D}"/>
                      </a:ext>
                    </a:extLst>
                  </p:cNvPr>
                  <p:cNvSpPr txBox="1"/>
                  <p:nvPr/>
                </p:nvSpPr>
                <p:spPr>
                  <a:xfrm>
                    <a:off x="7380672" y="199397"/>
                    <a:ext cx="4667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(b)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054BE73-DC45-0122-249E-D55BA5D1292A}"/>
                      </a:ext>
                    </a:extLst>
                  </p:cNvPr>
                  <p:cNvSpPr txBox="1"/>
                  <p:nvPr/>
                </p:nvSpPr>
                <p:spPr>
                  <a:xfrm>
                    <a:off x="4628077" y="3281753"/>
                    <a:ext cx="4411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(c)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9479D4A-7F1B-E876-2E5B-93FEEB2EE05B}"/>
                      </a:ext>
                    </a:extLst>
                  </p:cNvPr>
                  <p:cNvSpPr txBox="1"/>
                  <p:nvPr/>
                </p:nvSpPr>
                <p:spPr>
                  <a:xfrm>
                    <a:off x="7380672" y="3291643"/>
                    <a:ext cx="4667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(d)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5D725615-6A2D-A837-1CDC-B85053014C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54134" y="4994416"/>
                      <a:ext cx="735315" cy="28578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2301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5D725615-6A2D-A837-1CDC-B85053014C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54134" y="4994416"/>
                      <a:ext cx="735315" cy="28578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FAAE5803-3689-2F27-57C4-A611C4A71C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3800" y="4469296"/>
                      <a:ext cx="735315" cy="2829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41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FAAE5803-3689-2F27-57C4-A611C4A71C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3800" y="4469296"/>
                      <a:ext cx="735315" cy="28296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7BDA4912-C6A8-EE2D-62EF-206B256629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9115" y="3368830"/>
                      <a:ext cx="735315" cy="2829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280" i="1" kern="1200" smtClean="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1D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7BDA4912-C6A8-EE2D-62EF-206B256629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59115" y="3368830"/>
                      <a:ext cx="735315" cy="28296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33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022C5D-E3FE-7C46-FD33-0D30AC5F0A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61173" y="5108496"/>
                      <a:ext cx="735315" cy="28578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2301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2301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2301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022C5D-E3FE-7C46-FD33-0D30AC5F0A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61173" y="5108496"/>
                      <a:ext cx="735315" cy="28578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34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98BF0B96-A58D-9C9F-45E5-395DBA9AF7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4130" y="4775321"/>
                      <a:ext cx="735315" cy="2829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006315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34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006315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98BF0B96-A58D-9C9F-45E5-395DBA9AF7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04130" y="4775321"/>
                      <a:ext cx="735315" cy="28296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33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E3D705D-1EDF-94FD-4708-D8C3625E20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3270" y="3836659"/>
                      <a:ext cx="735315" cy="2829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731520"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8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𝑂</m:t>
                            </m:r>
                            <m:r>
                              <a:rPr lang="en-US" sz="1280" i="1" kern="1200" smtClean="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i="1" kern="120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</m:t>
                                </m:r>
                                <m:r>
                                  <a:rPr lang="en-US" sz="1280" b="0" i="1" kern="1200" smtClean="0">
                                    <a:solidFill>
                                      <a:srgbClr val="FF1D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sup>
                            </m:sSubSup>
                            <m:r>
                              <a:rPr lang="en-US" sz="1280" i="1" kern="1200">
                                <a:solidFill>
                                  <a:srgbClr val="FF1D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1D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E3D705D-1EDF-94FD-4708-D8C3625E204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53270" y="3836659"/>
                      <a:ext cx="735315" cy="28296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6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6396" name="Picture 12">
                <a:extLst>
                  <a:ext uri="{FF2B5EF4-FFF2-40B4-BE49-F238E27FC236}">
                    <a16:creationId xmlns:a16="http://schemas.microsoft.com/office/drawing/2014/main" id="{AE24BDAF-50A3-9F1B-163A-A2658AC117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029" t="89722" r="1258" b="663"/>
              <a:stretch/>
            </p:blipFill>
            <p:spPr bwMode="auto">
              <a:xfrm>
                <a:off x="5040657" y="6258854"/>
                <a:ext cx="4233301" cy="36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748105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0C6D83-AEA0-4BBD-A871-54B42212297D}"/>
              </a:ext>
            </a:extLst>
          </p:cNvPr>
          <p:cNvSpPr txBox="1">
            <a:spLocks/>
          </p:cNvSpPr>
          <p:nvPr/>
        </p:nvSpPr>
        <p:spPr>
          <a:xfrm>
            <a:off x="105469" y="18256"/>
            <a:ext cx="2407617" cy="393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/>
              <a:t>Storage plot for Si</a:t>
            </a:r>
            <a:endParaRPr lang="en-US" sz="1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329FF3-633E-73D3-D3AD-407124B0475F}"/>
              </a:ext>
            </a:extLst>
          </p:cNvPr>
          <p:cNvGrpSpPr/>
          <p:nvPr/>
        </p:nvGrpSpPr>
        <p:grpSpPr>
          <a:xfrm>
            <a:off x="1107421" y="1122314"/>
            <a:ext cx="8512419" cy="5133694"/>
            <a:chOff x="1107421" y="1122314"/>
            <a:chExt cx="8512419" cy="513369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B1DABB6-9C18-DFE8-947C-AC328CBAE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7421" y="1122314"/>
              <a:ext cx="8512419" cy="513369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55EEBE-0E2B-8ECD-1A48-BE452CC0E713}"/>
                </a:ext>
              </a:extLst>
            </p:cNvPr>
            <p:cNvSpPr txBox="1"/>
            <p:nvPr/>
          </p:nvSpPr>
          <p:spPr>
            <a:xfrm>
              <a:off x="1947822" y="128573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A65B5B-9BCA-29BA-7D69-ADAB75E36BD4}"/>
                </a:ext>
              </a:extLst>
            </p:cNvPr>
            <p:cNvSpPr txBox="1"/>
            <p:nvPr/>
          </p:nvSpPr>
          <p:spPr>
            <a:xfrm>
              <a:off x="6106886" y="1285738"/>
              <a:ext cx="4972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382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62822</TotalTime>
  <Words>308</Words>
  <Application>Microsoft Macintosh PowerPoint</Application>
  <PresentationFormat>Widescreen</PresentationFormat>
  <Paragraphs>97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Office Theme</vt:lpstr>
      <vt:lpstr>Efficient All-Electron Periodic Fourier-Transformed Coulomb Method</vt:lpstr>
      <vt:lpstr>Main figures</vt:lpstr>
      <vt:lpstr>Workflow chart</vt:lpstr>
      <vt:lpstr>Si energy</vt:lpstr>
      <vt:lpstr>PowerPoint Presentation</vt:lpstr>
      <vt:lpstr>Omega dependence</vt:lpstr>
      <vt:lpstr>SI figure</vt:lpstr>
      <vt:lpstr>LiF energy</vt:lpstr>
      <vt:lpstr>SI figures (LiF run time)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Dinh, Hieu</dc:creator>
  <cp:lastModifiedBy>Dinh, Hieu</cp:lastModifiedBy>
  <cp:revision>86</cp:revision>
  <dcterms:created xsi:type="dcterms:W3CDTF">2025-07-21T20:57:09Z</dcterms:created>
  <dcterms:modified xsi:type="dcterms:W3CDTF">2025-11-22T06:54:23Z</dcterms:modified>
</cp:coreProperties>
</file>